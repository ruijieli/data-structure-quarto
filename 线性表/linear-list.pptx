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建议用时 2 分钟。先让学生说出生活中“排成一列”的例子，再指出逻辑顺序与物理位置并不等价。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强调有限、同类型、次序三个关键词。可追问：集合为什么不是线性表？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建议用时 5 分钟。让学生指出图中第二阶段应先移动哪个元素。强调必须从右向左搬，否则会覆盖原数据。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先遮住代码，让学生决定两条语句的执行顺序。可用“先拉住后一个人的手，再松开原来的手”帮助记忆。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建议给 3 分钟独立完成，随后同桌互查。参考：第一次移动 57、42、23；第二次删除的是 42，57 左移。若将写入新元素也计作赋值，共 5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线性表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从连续存储到指针连接</a:t>
            </a:r>
            <a:br/>
            <a:br/>
            <a:r>
              <a:rPr/>
              <a:t>数据结构课堂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今天解决三个问题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线性表到底“线性”在哪里？</a:t>
            </a:r>
          </a:p>
          <a:p>
            <a:pPr lvl="0" indent="-342900" marL="342900">
              <a:buAutoNum type="arabicPeriod"/>
            </a:pPr>
            <a:r>
              <a:rPr/>
              <a:t>顺序表和链表怎样完成插入、删除？</a:t>
            </a:r>
          </a:p>
          <a:p>
            <a:pPr lvl="0" indent="-342900" marL="342900">
              <a:buAutoNum type="arabicPeriod"/>
            </a:pPr>
            <a:r>
              <a:rPr/>
              <a:t>面对具体任务，如何选择存储方式？</a:t>
            </a:r>
          </a:p>
          <a:p>
            <a:pPr lvl="0" indent="0" marL="0">
              <a:buNone/>
            </a:pPr>
            <a:r>
              <a:rPr b="1"/>
              <a:t>课堂主线</a:t>
            </a:r>
            <a:r>
              <a:rPr/>
              <a:t>：逻辑关系相同，存储方式不同，操作代价随之改变。</a:t>
            </a:r>
          </a:p>
        </p:txBody>
      </p:sp>
      <p:pic>
        <p:nvPicPr>
          <p:cNvPr descr="assets/linear-trai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从排队开始理解线性表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线性表是由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个数据元素组成的有限序列：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L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除首元素外，每个元素有且只有一个直接前驱</a:t>
                </a:r>
              </a:p>
              <a:p>
                <a:pPr lvl="0"/>
                <a:r>
                  <a:rPr/>
                  <a:t>除尾元素外，每个元素有且只有一个直接后继</a:t>
                </a:r>
              </a:p>
              <a:p>
                <a:pPr lvl="0"/>
                <a:r>
                  <a:rPr/>
                  <a:t>元素之间存在明确的先后次序</a:t>
                </a:r>
              </a:p>
              <a:p>
                <a:pPr lvl="0" indent="0" marL="1270000">
                  <a:buNone/>
                </a:pPr>
                <a:r>
                  <a:rPr sz="2000"/>
                  <a:t>“线性”描述逻辑关系，不规定数据必须挨着存放。</a:t>
                </a:r>
              </a:p>
            </p:txBody>
          </p:sp>
        </mc:Choice>
      </mc:AlternateContent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抽象数据类型关注“能做什么”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操作</a:t></a:r></a:p></a:txBody><a:tcPr /></a:tc><a:tc><a:txBody><a:bodyPr /><a:lstStyle /><a:p><a:pPr lvl="0" indent="0" marL="0"><a:buNone /></a:pPr><a:r><a:rPr /><a:t>含义</a:t></a:r></a:p></a:txBody><a:tcPr /></a:tc><a:tc><a:txBody><a:bodyPr /><a:lstStyle /><a:p><a:pPr lvl="0" indent="0" marL="0"><a:buNone /></a:pPr><a:r><a:rPr /><a:t>典型接口</a:t></a:r></a:p></a:txBody><a:tcPr /></a:tc></a:tr><a:tr h="0"><a:tc><a:txBody><a:bodyPr /><a:lstStyle /><a:p><a:pPr lvl="0" indent="0" marL="0"><a:buNone /></a:pPr><a:r><a:rPr /><a:t>初始化</a:t></a:r></a:p></a:txBody></a:tc><a:tc><a:txBody><a:bodyPr /><a:lstStyle /><a:p><a:pPr lvl="0" indent="0" marL="0"><a:buNone /></a:pPr><a:r><a:rPr /><a:t>建立空表</a:t></a:r></a:p></a:txBody></a:tc><a:tc><a:txBody><a:bodyPr /><a:lstStyle /><a:p><a:pPr lvl="0" indent="0" marL="0"><a:buNone /></a:pPr><a:r><a:rPr><a:latin typeface="Courier" /></a:rPr><a:t>InitList()</a:t></a:r></a:p></a:txBody></a:tc></a:tr><a:tr h="0"><a:tc><a:txBody><a:bodyPr /><a:lstStyle /><a:p><a:pPr lvl="0" indent="0" marL="0"><a:buNone /></a:pPr><a:r><a:rPr /><a:t>访问</a:t></a:r></a:p></a:txBody></a:tc><a:tc><a:txBody><a:bodyPr /><a:lstStyle /><a:p><a:pPr lvl="0" indent="0" marL="0"><a:buNone /></a:pPr><a:r><a:rPr /><a:t>读取第 </a:t></a:r><a14:m><m:oMath xmlns:m="http://schemas.openxmlformats.org/officeDocument/2006/math"><m:r><m:t>i</m:t></m:r></m:oMath></a14:m><a:r><a:rPr /><a:t> 个元素</a:t></a:r></a:p></a:txBody></a:tc><a:tc><a:txBody><a:bodyPr /><a:lstStyle /><a:p><a:pPr lvl="0" indent="0" marL="0"><a:buNone /></a:pPr><a:r><a:rPr><a:latin typeface="Courier" /></a:rPr><a:t>GetElem(i)</a:t></a:r></a:p></a:txBody></a:tc></a:tr><a:tr h="0"><a:tc><a:txBody><a:bodyPr /><a:lstStyle /><a:p><a:pPr lvl="0" indent="0" marL="0"><a:buNone /></a:pPr><a:r><a:rPr /><a:t>查找</a:t></a:r></a:p></a:txBody></a:tc><a:tc><a:txBody><a:bodyPr /><a:lstStyle /><a:p><a:pPr lvl="0" indent="0" marL="0"><a:buNone /></a:pPr><a:r><a:rPr /><a:t>找到满足条件的元素</a:t></a:r></a:p></a:txBody></a:tc><a:tc><a:txBody><a:bodyPr /><a:lstStyle /><a:p><a:pPr lvl="0" indent="0" marL="0"><a:buNone /></a:pPr><a:r><a:rPr><a:latin typeface="Courier" /></a:rPr><a:t>LocateElem(x)</a:t></a:r></a:p></a:txBody></a:tc></a:tr><a:tr h="0"><a:tc><a:txBody><a:bodyPr /><a:lstStyle /><a:p><a:pPr lvl="0" indent="0" marL="0"><a:buNone /></a:pPr><a:r><a:rPr /><a:t>插入</a:t></a:r></a:p></a:txBody></a:tc><a:tc><a:txBody><a:bodyPr /><a:lstStyle /><a:p><a:pPr lvl="0" indent="0" marL="0"><a:buNone /></a:pPr><a:r><a:rPr /><a:t>在位置 </a:t></a:r><a14:m><m:oMath xmlns:m="http://schemas.openxmlformats.org/officeDocument/2006/math"><m:r><m:t>i</m:t></m:r></m:oMath></a14:m><a:r><a:rPr /><a:t> 放入新元素</a:t></a:r></a:p></a:txBody></a:tc><a:tc><a:txBody><a:bodyPr /><a:lstStyle /><a:p><a:pPr lvl="0" indent="0" marL="0"><a:buNone /></a:pPr><a:r><a:rPr><a:latin typeface="Courier" /></a:rPr><a:t>Insert(i, x)</a:t></a:r></a:p></a:txBody></a:tc></a:tr><a:tr h="0"><a:tc><a:txBody><a:bodyPr /><a:lstStyle /><a:p><a:pPr lvl="0" indent="0" marL="0"><a:buNone /></a:pPr><a:r><a:rPr /><a:t>删除</a:t></a:r></a:p></a:txBody></a:tc><a:tc><a:txBody><a:bodyPr /><a:lstStyle /><a:p><a:pPr lvl="0" indent="0" marL="0"><a:buNone /></a:pPr><a:r><a:rPr /><a:t>移除位置 </a:t></a:r><a14:m><m:oMath xmlns:m="http://schemas.openxmlformats.org/officeDocument/2006/math"><m:r><m:t>i</m:t></m:r></m:oMath></a14:m><a:r><a:rPr /><a:t> 的元素</a:t></a:r></a:p></a:txBody></a:tc><a:tc><a:txBody><a:bodyPr /><a:lstStyle /><a:p><a:pPr lvl="0" indent="0" marL="0"><a:buNone /></a:pPr><a:r><a:rPr><a:latin typeface="Courier" /></a:rPr><a:t>Delete(i)</a:t></a:r></a:p></a:txBody></a:tc></a:tr><a:tr h="0"><a:tc><a:txBody><a:bodyPr /><a:lstStyle /><a:p><a:pPr lvl="0" indent="0" marL="0"><a:buNone /></a:pPr><a:r><a:rPr /><a:t>判空与长度</a:t></a:r></a:p></a:txBody></a:tc><a:tc><a:txBody><a:bodyPr /><a:lstStyle /><a:p><a:pPr lvl="0" indent="0" marL="0"><a:buNone /></a:pPr><a:r><a:rPr /><a:t>获取表的状态</a:t></a:r></a:p></a:txBody></a:tc><a:tc><a:txBody><a:bodyPr /><a:lstStyle /><a:p><a:pPr lvl="0" indent="0" marL="0"><a:buNone /></a:pPr><a:r><a:rPr><a:latin typeface="Courier" /></a:rPr><a:t>Empty()</a:t></a:r><a:r><a:rPr /><a:t>, </a:t></a:r><a:r><a:rPr><a:latin typeface="Courier" /></a:rPr><a:t>Length()</a:t></a:r></a:p></a:txBody></a:tc></a:tr></a:tbl></a:graphicData></a:graphic></p:graphicFrame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实现方式可以不同，接口语义应保持一致。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两种存储方式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顺序表</a:t>
            </a:r>
          </a:p>
          <a:p>
            <a:pPr lvl="0" indent="0" marL="0">
              <a:buNone/>
            </a:pPr>
            <a:r>
              <a:rPr/>
              <a:t>元素占据连续存储单元。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[12][25][37][48]</a:t>
            </a:r>
          </a:p>
          <a:p>
            <a:pPr lvl="0"/>
            <a:r>
              <a:rPr/>
              <a:t>下标直接定位</a:t>
            </a:r>
          </a:p>
          <a:p>
            <a:pPr lvl="0"/>
            <a:r>
              <a:rPr/>
              <a:t>内存局部性好</a:t>
            </a:r>
          </a:p>
          <a:p>
            <a:pPr lvl="0"/>
            <a:r>
              <a:rPr/>
              <a:t>中间插入、删除需要搬移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顺序表如何定位元素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若每个元素占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 个字节，首地址为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L</m:t>
                      </m:r>
                      <m:r>
                        <m:t>O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L</m:t>
                      </m:r>
                      <m:r>
                        <m:t>O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w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/><a:t>例：首地址为 1000，每个整数占 4 字节。</a:t></a:r></a:p></p:txBody></p:sp><p:graphicFrame><p:nvGraphicFramePr><p:cNvPr id="6" name="Content Placeholder 5" /><p:cNvGraphicFramePr><a:graphicFrameLocks noGrp="1" /></p:cNvGraphicFramePr><p:nvPr><p:ph idx="1" /></p:nvPr></p:nvGraphicFramePr><p:xfrm><a:off x="457200" y="1625600" /><a:ext cx="4038600" cy="2959100" /></p:xfrm><a:graphic><a:graphicData uri="http://schemas.openxmlformats.org/drawingml/2006/table"><a:tbl><a:tblPr firstRow="1" bandRow="1"><a:tableStyleId>{5C22544A-7EE6-4342-B048-85BDC9FD1C3A}</a:tableStyleId></a:tblPr><a:tblGrid><a:gridCol w="2019300" /><a:gridCol w="2019300" /></a:tblGrid><a:tr h="0"><a:tc><a:txBody><a:bodyPr /><a:lstStyle /><a:p><a:pPr lvl="0" indent="0" marL="0" algn="r"><a:buNone /></a:pPr><a:r><a:rPr /><a:t>下标 </a:t></a:r><a14:m><m:oMath xmlns:m="http://schemas.openxmlformats.org/officeDocument/2006/math"><m:r><m:t>i</m:t></m:r></m:oMath></a14:m></a:p></a:txBody><a:tcPr /></a:tc><a:tc><a:txBody><a:bodyPr /><a:lstStyle /><a:p><a:pPr lvl="0" indent="0" marL="0" algn="r"><a:buNone /></a:pPr><a:r><a:rPr /><a:t>地址</a:t></a:r></a:p></a:txBody><a:tcPr /></a:tc></a:tr><a:tr h="0"><a:tc><a:txBody><a:bodyPr /><a:lstStyle /><a:p><a:pPr lvl="0" indent="0" marL="0" algn="r"><a:buNone /></a:pPr><a:r><a:rPr /><a:t>0</a:t></a:r></a:p></a:txBody></a:tc><a:tc><a:txBody><a:bodyPr /><a:lstStyle /><a:p><a:pPr lvl="0" indent="0" marL="0" algn="r"><a:buNone /></a:pPr><a:r><a:rPr /><a:t>1000</a:t></a:r></a:p></a:txBody></a:tc></a:tr><a:tr h="0"><a:tc><a:txBody><a:bodyPr /><a:lstStyle /><a:p><a:pPr lvl="0" indent="0" marL="0" algn="r"><a:buNone /></a:pPr><a:r><a:rPr /><a:t>1</a:t></a:r></a:p></a:txBody></a:tc><a:tc><a:txBody><a:bodyPr /><a:lstStyle /><a:p><a:pPr lvl="0" indent="0" marL="0" algn="r"><a:buNone /></a:pPr><a:r><a:rPr /><a:t>1004</a:t></a:r></a:p></a:txBody></a:tc></a:tr><a:tr h="0"><a:tc><a:txBody><a:bodyPr /><a:lstStyle /><a:p><a:pPr lvl="0" indent="0" marL="0" algn="r"><a:buNone /></a:pPr><a:r><a:rPr /><a:t>2</a:t></a:r></a:p></a:txBody></a:tc><a:tc><a:txBody><a:bodyPr /><a:lstStyle /><a:p><a:pPr lvl="0" indent="0" marL="0" algn="r"><a:buNone /></a:pPr><a:r><a:rPr /><a:t>1008</a:t></a:r></a:p></a:txBody></a:tc></a:tr><a:tr h="0"><a:tc><a:txBody><a:bodyPr /><a:lstStyle /><a:p><a:pPr lvl="0" indent="0" marL="0" algn="r"><a:buNone /></a:pPr><a:r><a:rPr /><a:t>3</a:t></a:r></a:p></a:txBody></a:tc><a:tc><a:txBody><a:bodyPr /><a:lstStyle /><a:p><a:pPr lvl="0" indent="0" marL="0" algn="r"><a:buNone /></a:pPr><a:r><a:rPr /><a:t>1012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/><a:t>一次乘法和一次加法即可算出地址，所以随机访问为 </a:t></a:r><a14:m><m:oMath xmlns:m="http://schemas.openxmlformats.org/officeDocument/2006/math"><m:r><m:t>O</m:t></m:r><m:r><m:rPr><m:sty m:val="p" /></m:rPr><m:t>(</m:t></m:r><m:r><m:t>1</m:t></m:r><m:r><m:rPr><m:sty m:val="p" /></m:rPr><m:t>)</m:t></m:r></m:oMath></a14:m><a:r><a:rPr /><a:t>。</a:t></a:r></a:p></p:txBody></p:sp></mc:Choice></mc:AlternateContent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顺序表插入的关键动作</a:t>
            </a:r>
          </a:p>
        </p:txBody>
      </p:sp>
      <p:pic>
        <p:nvPicPr>
          <p:cNvPr descr="assets/array-inse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1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从表尾开始向右搬移，为新元素腾出位置。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插入算法：先搬移，再写入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902000"/>
                    </a:solidFill>
                    <a:latin typeface="Courier"/>
                  </a:rPr>
                  <a:t>bool</a:t>
                </a:r>
                <a:r>
                  <a:rPr>
                    <a:latin typeface="Courier"/>
                  </a:rPr>
                  <a:t> insert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latin typeface="Courier"/>
                  </a:rPr>
                  <a:t>SqList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902000"/>
                    </a:solidFill>
                    <a:latin typeface="Courier"/>
                  </a:rPr>
                  <a:t>int</a:t>
                </a:r>
                <a:r>
                  <a:rPr>
                    <a:latin typeface="Courier"/>
                  </a:rPr>
                  <a:t> 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ElemType x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{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latin typeface="Courier"/>
                  </a:rPr>
                  <a:t>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||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false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latin typeface="Courier"/>
                  </a:rPr>
                  <a:t>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==</a:t>
                </a:r>
                <a:r>
                  <a:rPr>
                    <a:latin typeface="Courier"/>
                  </a:rPr>
                  <a:t> MAXSIZE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false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902000"/>
                    </a:solidFill>
                    <a:latin typeface="Courier"/>
                  </a:rPr>
                  <a:t>int</a:t>
                </a:r>
                <a:r>
                  <a:rPr>
                    <a:latin typeface="Courier"/>
                  </a:rPr>
                  <a:t> 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--</a:t>
                </a:r>
                <a:r>
                  <a:rPr>
                    <a:latin typeface="Courier"/>
                  </a:rPr>
                  <a:t>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   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];</a:t>
                </a:r>
                <a:br/>
                <a:br/>
                <a:r>
                  <a:rPr>
                    <a:latin typeface="Courier"/>
                  </a:rPr>
                  <a:t>   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x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>
                    <a:latin typeface="Courier"/>
                  </a:rPr>
                  <a:t>   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++;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>
                    <a:solidFill>
                      <a:srgbClr val="666666"/>
                    </a:solidFill>
                    <a:latin typeface="Courier"/>
                  </a:rPr>
                  <a:t>}</a:t>
                </a:r>
              </a:p>
              <a:p>
                <a:pPr lvl="0" indent="0" marL="0">
                  <a:buNone/>
                </a:pPr>
                <a:r>
                  <a:rPr/>
                  <a:t>最坏情况插在表头，移动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个元素，时间复杂度为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顺序表删除：空位由后继补上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删除下标 1 的元素：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原表     [12][25][37][48][56]
删除         ×
左移     [12][37][48][56][  ]</a:t>
                </a:r>
              </a:p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902000"/>
                    </a:solidFill>
                    <a:latin typeface="Courier"/>
                  </a:rPr>
                  <a:t>int</a:t>
                </a:r>
                <a:r>
                  <a:rPr>
                    <a:latin typeface="Courier"/>
                  </a:rPr>
                  <a:t> 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i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++</a:t>
                </a:r>
                <a:r>
                  <a:rPr>
                    <a:latin typeface="Courier"/>
                  </a:rPr>
                  <a:t>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j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j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];</a:t>
                </a:r>
                <a:br/>
                <a:r>
                  <a:rPr>
                    <a:latin typeface="Courier"/>
                  </a:rPr>
                  <a:t>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length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--;</a:t>
                </a:r>
              </a:p>
              <a:p>
                <a:pPr lvl="0" indent="0" marL="0">
                  <a:buNone/>
                </a:pPr>
                <a:r>
                  <a:rPr/>
                  <a:t>平均需要移动约一半元素，时间复杂度仍为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单链表节点把数据与链接放在一起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typedef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Node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ElemType data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Node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next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Node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每个节点包含：</a:t>
            </a:r>
          </a:p>
          <a:p>
            <a:pPr lvl="0"/>
            <a:r>
              <a:rPr>
                <a:latin typeface="Courier"/>
              </a:rPr>
              <a:t>data</a:t>
            </a:r>
            <a:r>
              <a:rPr/>
              <a:t>：保存数据</a:t>
            </a:r>
          </a:p>
          <a:p>
            <a:pPr lvl="0"/>
            <a:r>
              <a:rPr>
                <a:latin typeface="Courier"/>
              </a:rPr>
              <a:t>next</a:t>
            </a:r>
            <a:r>
              <a:rPr/>
              <a:t>：保存后继节点地址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头指针记录第一个节点的位置。尾节点的 </a:t>
            </a:r>
            <a:r>
              <a:rPr>
                <a:latin typeface="Courier"/>
              </a:rPr>
              <a:t>next</a:t>
            </a:r>
            <a:r>
              <a:rPr/>
              <a:t> 为 </a:t>
            </a:r>
            <a:r>
              <a:rPr>
                <a:latin typeface="Courier"/>
              </a:rPr>
              <a:t>NULL</a:t>
            </a:r>
            <a:r>
              <a:rPr/>
              <a:t>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单链表访问需要沿链接前进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head
 ↓
[12|•] → [25|•] → [37|•] → [48|∅]
   0        1        2        3</a:t>
                </a:r>
              </a:p>
              <a:p>
                <a:pPr lvl="0" indent="0" marL="0">
                  <a:buNone/>
                </a:pPr>
                <a:r>
                  <a:rPr/>
                  <a:t>访问下标 3：必须依次经过 12、25、37，才能到达 48。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Node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p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head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902000"/>
                    </a:solidFill>
                    <a:latin typeface="Courier"/>
                  </a:rPr>
                  <a:t>int</a:t>
                </a:r>
                <a:r>
                  <a:rPr>
                    <a:latin typeface="Courier"/>
                  </a:rPr>
                  <a:t> k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k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&amp;&amp;</a:t>
                </a:r>
                <a:r>
                  <a:rPr>
                    <a:latin typeface="Courier"/>
                  </a:rPr>
                  <a:t> p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!=</a:t>
                </a:r>
                <a:r>
                  <a:rPr>
                    <a:latin typeface="Courier"/>
                  </a:rPr>
                  <a:t> NULL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++</a:t>
                </a:r>
                <a:r>
                  <a:rPr>
                    <a:latin typeface="Courier"/>
                  </a:rPr>
                  <a:t>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p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p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next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</a:p>
              <a:p>
                <a:pPr lvl="0" indent="0" marL="0">
                  <a:buNone/>
                </a:pPr>
                <a:r>
                  <a:rPr/>
                  <a:t>随机访问为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，这是链表换取灵活链接所付出的代价。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单链表插入只改变两条链接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在节点 </a:t>
            </a:r>
            <a:r>
              <a:rPr>
                <a:latin typeface="Courier"/>
              </a:rPr>
              <a:t>p</a:t>
            </a:r>
            <a:r>
              <a:rPr/>
              <a:t> 后插入新节点 </a:t>
            </a:r>
            <a:r>
              <a:rPr>
                <a:latin typeface="Courier"/>
              </a:rPr>
              <a:t>s</a:t>
            </a:r>
            <a:r>
              <a:rPr/>
              <a:t>：</a:t>
            </a:r>
          </a:p>
          <a:p>
            <a:pPr lvl="0" indent="0">
              <a:buNone/>
            </a:pPr>
            <a:r>
              <a:rPr>
                <a:latin typeface="Courier"/>
              </a:rPr>
              <a:t>原来    p ─────────→ q
步骤1   s ─────────→ q      s-&gt;next = p-&gt;next
步骤2   p ─────────→ s      p-&gt;next = s</a:t>
            </a:r>
          </a:p>
          <a:p>
            <a:pPr lvl="0" indent="0">
              <a:buNone/>
            </a:pP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next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顺序不能颠倒，否则可能丢失原后继节点的地址。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单链表删除的本质是绕过目标节点</a:t>
            </a:r>
          </a:p>
        </p:txBody>
      </p:sp>
      <p:pic>
        <p:nvPicPr>
          <p:cNvPr descr="assets/linked-de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1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Node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q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p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next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>
                    <a:latin typeface="Courier"/>
                  </a:rPr>
                  <a:t>p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next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q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-&gt;</a:t>
                </a:r>
                <a:r>
                  <a:rPr>
                    <a:latin typeface="Courier"/>
                  </a:rPr>
                  <a:t>next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br/>
                <a:r>
                  <a:rPr>
                    <a:latin typeface="Courier"/>
                  </a:rPr>
                  <a:t>free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latin typeface="Courier"/>
                  </a:rPr>
                  <a:t>q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);</a:t>
                </a:r>
              </a:p>
              <a:p>
                <a:pPr lvl="0" indent="0" marL="0">
                  <a:buNone/>
                </a:pPr>
                <a:r>
                  <a:rPr/>
                  <a:t>已知目标节点的前驱时，重连操作为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；寻找前驱通常需要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边界条件最容易出错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顺序表</a:t>
                </a:r>
              </a:p>
              <a:p>
                <a:pPr lvl="0"/>
                <a:r>
                  <a:rPr/>
                  <a:t>插入位置允许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i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n</m:t>
                    </m:r>
                  </m:oMath>
                </a14:m>
              </a:p>
              <a:p>
                <a:pPr lvl="0"/>
                <a:r>
                  <a:rPr/>
                  <a:t>删除位置要求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</m:oMath>
                </a14:m>
              </a:p>
              <a:p>
                <a:pPr lvl="0"/>
                <a:r>
                  <a:rPr/>
                  <a:t>插入前检查容量</a:t>
                </a:r>
              </a:p>
              <a:p>
                <a:pPr lvl="0"/>
                <a:r>
                  <a:rPr/>
                  <a:t>操作成功后更新长度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链表</a:t>
            </a:r>
          </a:p>
          <a:p>
            <a:pPr lvl="0"/>
            <a:r>
              <a:rPr/>
              <a:t>空表时头指针为 </a:t>
            </a:r>
            <a:r>
              <a:rPr>
                <a:latin typeface="Courier"/>
              </a:rPr>
              <a:t>NULL</a:t>
            </a:r>
          </a:p>
          <a:p>
            <a:pPr lvl="0"/>
            <a:r>
              <a:rPr/>
              <a:t>删除前检查目标是否存在</a:t>
            </a:r>
          </a:p>
          <a:p>
            <a:pPr lvl="0"/>
            <a:r>
              <a:rPr/>
              <a:t>插入表头需要单独处理或使用头结点</a:t>
            </a:r>
          </a:p>
          <a:p>
            <a:pPr lvl="0"/>
            <a:r>
              <a:rPr/>
              <a:t>释放节点前先保存后继地址</a:t>
            </a:r>
          </a:p>
        </p:txBody>
      </p:sp>
    </p:spTree>
  </p:cSld>
</p:sld>
</file>

<file path=ppt/slides/slide2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复杂度对比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操作</a:t></a:r></a:p></a:txBody><a:tcPr /></a:tc><a:tc><a:txBody><a:bodyPr /><a:lstStyle /><a:p><a:pPr lvl="0" indent="0" marL="0" algn="ctr"><a:buNone /></a:pPr><a:r><a:rPr /><a:t>顺序表</a:t></a:r></a:p></a:txBody><a:tcPr /></a:tc><a:tc><a:txBody><a:bodyPr /><a:lstStyle /><a:p><a:pPr lvl="0" indent="0" marL="0" algn="ctr"><a:buNone /></a:pPr><a:r><a:rPr /><a:t>单链表</a:t></a:r></a:p></a:txBody><a:tcPr /></a:tc></a:tr><a:tr h="0"><a:tc><a:txBody><a:bodyPr /><a:lstStyle /><a:p><a:pPr lvl="0" indent="0" marL="0"><a:buNone /></a:pPr><a:r><a:rPr /><a:t>按下标访问</a:t></a:r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1</m:t></m:r><m:r><m:rPr><m:sty m:val="p" /></m:rPr><m:t>)</m:t></m:r></m:oMath></a14:m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/a:tr><a:tr h="0"><a:tc><a:txBody><a:bodyPr /><a:lstStyle /><a:p><a:pPr lvl="0" indent="0" marL="0"><a:buNone /></a:pPr><a:r><a:rPr /><a:t>按值查找</a:t></a:r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/a:tr><a:tr h="0"><a:tc><a:txBody><a:bodyPr /><a:lstStyle /><a:p><a:pPr lvl="0" indent="0" marL="0"><a:buNone /></a:pPr><a:r><a:rPr /><a:t>已知位置后的插入</a:t></a:r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1</m:t></m:r><m:r><m:rPr><m:sty m:val="p" /></m:rPr><m:t>)</m:t></m:r></m:oMath></a14:m></a:p></a:txBody></a:tc></a:tr><a:tr h="0"><a:tc><a:txBody><a:bodyPr /><a:lstStyle /><a:p><a:pPr lvl="0" indent="0" marL="0"><a:buNone /></a:pPr><a:r><a:rPr /><a:t>已知前驱的删除</a:t></a:r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a:tc><a:txBody><a:bodyPr /><a:lstStyle /><a:p><a:pPr lvl="0" indent="0" marL="0" algn="ctr"><a:buNone /></a:pPr><a14:m><m:oMath xmlns:m="http://schemas.openxmlformats.org/officeDocument/2006/math"><m:r><m:t>O</m:t></m:r><m:r><m:rPr><m:sty m:val="p" /></m:rPr><m:t>(</m:t></m:r><m:r><m:t>1</m:t></m:r><m:r><m:rPr><m:sty m:val="p" /></m:rPr><m:t>)</m:t></m:r></m:oMath></a14:m></a:p></a:txBody></a:tc></a:tr><a:tr h="0"><a:tc><a:txBody><a:bodyPr /><a:lstStyle /><a:p><a:pPr lvl="0" indent="0" marL="0"><a:buNone /></a:pPr><a:r><a:rPr /><a:t>存储开销</a:t></a:r></a:p></a:txBody></a:tc><a:tc><a:txBody><a:bodyPr /><a:lstStyle /><a:p><a:pPr lvl="0" indent="0" marL="0" algn="ctr"><a:buNone /></a:pPr><a:r><a:rPr /><a:t>可能预留空间</a:t></a:r></a:p></a:txBody></a:tc><a:tc><a:txBody><a:bodyPr /><a:lstStyle /><a:p><a:pPr lvl="0" indent="0" marL="0" algn="ctr"><a:buNone /></a:pPr><a:r><a:rPr /><a:t>每个节点多一个指针</a:t></a:r></a:p></a:txBody></a:tc></a:tr><a:tr h="0"><a:tc><a:txBody><a:bodyPr /><a:lstStyle /><a:p><a:pPr lvl="0" indent="0" marL="0"><a:buNone /></a:pPr><a:r><a:rPr /><a:t>缓存友好性</a:t></a:r></a:p></a:txBody></a:tc><a:tc><a:txBody><a:bodyPr /><a:lstStyle /><a:p><a:pPr lvl="0" indent="0" marL="0" algn="ctr"><a:buNone /></a:pPr><a:r><a:rPr /><a:t>好</a:t></a:r></a:p></a:txBody></a:tc><a:tc><a:txBody><a:bodyPr /><a:lstStyle /><a:p><a:pPr lvl="0" indent="0" marL="0" algn="ctr"><a:buNone /></a:pPr><a:r><a:rPr /><a:t>较弱</a:t></a:r></a:p></a:txBody></a:tc></a:tr></a:tbl></a:graphicData></a:graphic></p:graphicFrame></p:spTree></p:cSld>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复杂度中的“已知位置”要说清楚：链表若先找位置，总体仍可能是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选择取决于主要操作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更适合顺序表</a:t>
            </a:r>
          </a:p>
          <a:p>
            <a:pPr lvl="0"/>
            <a:r>
              <a:rPr/>
              <a:t>经常按下标访问</a:t>
            </a:r>
          </a:p>
          <a:p>
            <a:pPr lvl="0"/>
            <a:r>
              <a:rPr/>
              <a:t>数据规模相对稳定</a:t>
            </a:r>
          </a:p>
          <a:p>
            <a:pPr lvl="0"/>
            <a:r>
              <a:rPr/>
              <a:t>追求缓存效率</a:t>
            </a:r>
          </a:p>
          <a:p>
            <a:pPr lvl="0"/>
            <a:r>
              <a:rPr/>
              <a:t>元素较小，搬移成本可接受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更适合链表</a:t>
            </a:r>
          </a:p>
          <a:p>
            <a:pPr lvl="0"/>
            <a:r>
              <a:rPr/>
              <a:t>插入、删除频繁</a:t>
            </a:r>
          </a:p>
          <a:p>
            <a:pPr lvl="0"/>
            <a:r>
              <a:rPr/>
              <a:t>已经持有目标附近的节点指针</a:t>
            </a:r>
          </a:p>
          <a:p>
            <a:pPr lvl="0"/>
            <a:r>
              <a:rPr/>
              <a:t>规模变化难以预测</a:t>
            </a:r>
          </a:p>
          <a:p>
            <a:pPr lvl="0"/>
            <a:r>
              <a:rPr/>
              <a:t>不要求随机访问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课堂练习：记录一次真实操作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初始顺序表：</a:t>
            </a:r>
            <a:r>
              <a:rPr>
                <a:latin typeface="Courier"/>
              </a:rPr>
              <a:t>[8, 15, 23, 42, 57]</a:t>
            </a:r>
          </a:p>
          <a:p>
            <a:pPr lvl="0" indent="-342900" marL="342900">
              <a:buAutoNum type="arabicPeriod"/>
            </a:pPr>
            <a:r>
              <a:rPr/>
              <a:t>在下标 2 插入 19，哪些元素发生移动？</a:t>
            </a:r>
          </a:p>
          <a:p>
            <a:pPr lvl="0" indent="-342900" marL="342900">
              <a:buAutoNum type="arabicPeriod"/>
            </a:pPr>
            <a:r>
              <a:rPr/>
              <a:t>再删除下标 4 的元素，最终序列是什么？</a:t>
            </a:r>
          </a:p>
          <a:p>
            <a:pPr lvl="0" indent="-342900" marL="342900">
              <a:buAutoNum type="arabicPeriod"/>
            </a:pPr>
            <a:r>
              <a:rPr/>
              <a:t>两次操作一共完成多少次元素赋值？</a:t>
            </a:r>
          </a:p>
          <a:p>
            <a:pPr lvl="0" indent="0" marL="0">
              <a:buNone/>
            </a:pPr>
            <a:r>
              <a:rPr b="1"/>
              <a:t>提示</a:t>
            </a:r>
            <a:r>
              <a:rPr/>
              <a:t>：画出每一步状态，不要只写最终答案。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易错点诊断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判断下面说法是否正确，并说明理由：</a:t>
            </a:r>
          </a:p>
          <a:p>
            <a:pPr lvl="0" indent="-342900" marL="342900">
              <a:buAutoNum type="arabicPeriod"/>
            </a:pPr>
            <a:r>
              <a:rPr/>
              <a:t>链表插入永远比顺序表快。</a:t>
            </a:r>
          </a:p>
          <a:p>
            <a:pPr lvl="0" indent="-342900" marL="342900">
              <a:buAutoNum type="arabicPeriod"/>
            </a:pPr>
            <a:r>
              <a:rPr/>
              <a:t>顺序表的容量等于当前长度。</a:t>
            </a:r>
          </a:p>
          <a:p>
            <a:pPr lvl="0" indent="-342900" marL="342900">
              <a:buAutoNum type="arabicPeriod"/>
            </a:pPr>
            <a:r>
              <a:rPr/>
              <a:t>删除单链表节点后，不需要释放内存。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p = p-&gt;next</a:t>
            </a:r>
            <a:r>
              <a:rPr/>
              <a:t> 执行一次，就访问了下标 1 的元素。</a:t>
            </a:r>
          </a:p>
          <a:p>
            <a:pPr lvl="0" indent="0" marL="0">
              <a:buNone/>
            </a:pPr>
            <a:r>
              <a:rPr/>
              <a:t>关键：把“定位成本”和“修改成本”分开分析。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小结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线性表规定一对一的前驱、后继关系</a:t>
                </a:r>
              </a:p>
              <a:p>
                <a:pPr lvl="0"/>
                <a:r>
                  <a:rPr/>
                  <a:t>顺序表用连续空间换取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随机访问</a:t>
                </a:r>
              </a:p>
              <a:p>
                <a:pPr lvl="0"/>
                <a:r>
                  <a:rPr/>
                  <a:t>链表用指针换取局部修改的灵活性</a:t>
                </a:r>
              </a:p>
              <a:p>
                <a:pPr lvl="0"/>
                <a:r>
                  <a:rPr/>
                  <a:t>插入、删除的过程决定算法复杂度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一句话带走</a:t>
            </a:r>
          </a:p>
          <a:p>
            <a:pPr lvl="0" indent="0" marL="0">
              <a:buNone/>
            </a:pPr>
            <a:r>
              <a:rPr/>
              <a:t>先看主要操作，再选存储结构。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实现一个支持以下操作的线性表：</a:t>
            </a:r>
          </a:p>
          <a:p>
            <a:pPr lvl="0" indent="0">
              <a:buNone/>
            </a:pPr>
            <a:r>
              <a:rPr>
                <a:latin typeface="Courier"/>
              </a:rPr>
              <a:t>insert(i, x)
delete(i)
get(i)
find(x)
print()</a:t>
            </a:r>
          </a:p>
          <a:p>
            <a:pPr lvl="0" indent="0" marL="0">
              <a:buNone/>
            </a:pPr>
            <a:r>
              <a:rPr/>
              <a:t>任选顺序表或单链表，并准备回答：</a:t>
            </a:r>
          </a:p>
          <a:p>
            <a:pPr lvl="0"/>
            <a:r>
              <a:rPr/>
              <a:t>你的实现如何处理空表与越界？</a:t>
            </a:r>
          </a:p>
          <a:p>
            <a:pPr lvl="0"/>
            <a:r>
              <a:rPr/>
              <a:t>哪个操作最慢？为什么？</a:t>
            </a:r>
          </a:p>
          <a:p>
            <a:pPr lvl="0"/>
            <a:r>
              <a:rPr/>
              <a:t>如果数据量扩大 100 倍，你会改变存储方式吗？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线性表</dc:title>
  <dc:creator>数据结构课堂</dc:creator>
  <cp:keywords/>
  <dcterms:created xsi:type="dcterms:W3CDTF">2026-10-17T03:16:34Z</dcterms:created>
  <dcterms:modified xsi:type="dcterms:W3CDTF">2026-10-17T03:16:34Z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从连续存储到指针连接</vt:lpwstr>
  </property>
  <property fmtid="{D5CDD505-2E9C-101B-9397-08002B2CF9AE}" pid="12" name="toc-title">
    <vt:lpwstr>Table of contents</vt:lpwstr>
  </property>
</Properties>
</file>